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6887"/>
    <p:restoredTop sz="95640"/>
  </p:normalViewPr>
  <p:slideViewPr>
    <p:cSldViewPr snapToGrid="0" snapToObjects="1">
      <p:cViewPr varScale="1">
        <p:scale>
          <a:sx n="169" d="100"/>
          <a:sy n="169" d="100"/>
        </p:scale>
        <p:origin x="200" y="7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484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506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Здравейте! </a:t>
            </a:r>
            <a:br>
              <a:rPr lang="en-US" dirty="0"/>
            </a:br>
            <a:br>
              <a:rPr lang="en-US" dirty="0"/>
            </a:br>
            <a:r>
              <a:rPr lang="bg-BG" dirty="0"/>
              <a:t>Ще </a:t>
            </a:r>
            <a:r>
              <a:rPr lang="en-US" dirty="0" err="1"/>
              <a:t>говорим</a:t>
            </a:r>
            <a:r>
              <a:rPr lang="en-US" dirty="0"/>
              <a:t> за криптографските принципи зад автентикация без парола. </a:t>
            </a:r>
            <a:br>
              <a:rPr lang="bg-BG" dirty="0"/>
            </a:br>
            <a:br>
              <a:rPr lang="bg-BG" dirty="0"/>
            </a:br>
            <a:r>
              <a:rPr lang="en-US" dirty="0" err="1"/>
              <a:t>Ще</a:t>
            </a:r>
            <a:r>
              <a:rPr lang="en-US" dirty="0"/>
              <a:t> </a:t>
            </a:r>
            <a:r>
              <a:rPr lang="bg-BG" dirty="0"/>
              <a:t>разгледаме </a:t>
            </a:r>
          </a:p>
          <a:p>
            <a:pPr marL="171450" indent="-171450">
              <a:buFontTx/>
              <a:buChar char="-"/>
            </a:pPr>
            <a:r>
              <a:rPr lang="en-US" dirty="0"/>
              <a:t>FIDO2 </a:t>
            </a:r>
            <a:r>
              <a:rPr lang="en-US" dirty="0" err="1"/>
              <a:t>протокола</a:t>
            </a:r>
            <a:endParaRPr lang="bg-BG" dirty="0"/>
          </a:p>
          <a:p>
            <a:pPr marL="171450" indent="-171450">
              <a:buFontTx/>
              <a:buChar char="-"/>
            </a:pPr>
            <a:r>
              <a:rPr lang="en-US" dirty="0" err="1"/>
              <a:t>разликата</a:t>
            </a:r>
            <a:r>
              <a:rPr lang="en-US" dirty="0"/>
              <a:t> между passkeys и хардуерни ключове от криптографска </a:t>
            </a:r>
            <a:r>
              <a:rPr lang="en-US" dirty="0" err="1"/>
              <a:t>гледна</a:t>
            </a:r>
            <a:r>
              <a:rPr lang="en-US" dirty="0"/>
              <a:t> </a:t>
            </a:r>
            <a:r>
              <a:rPr lang="en-US" dirty="0" err="1"/>
              <a:t>точка</a:t>
            </a:r>
            <a:endParaRPr lang="bg-BG" dirty="0"/>
          </a:p>
          <a:p>
            <a:pPr marL="171450" indent="-171450">
              <a:buFontTx/>
              <a:buChar char="-"/>
            </a:pPr>
            <a:r>
              <a:rPr lang="bg-BG" dirty="0"/>
              <a:t>И </a:t>
            </a:r>
            <a:r>
              <a:rPr lang="en-US" dirty="0" err="1"/>
              <a:t>ще</a:t>
            </a:r>
            <a:r>
              <a:rPr lang="en-US" dirty="0"/>
              <a:t> анализираме модела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заплахи</a:t>
            </a:r>
            <a:br>
              <a:rPr lang="bg-BG" dirty="0"/>
            </a:b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Какъв е </a:t>
            </a:r>
            <a:r>
              <a:rPr lang="en-US" dirty="0" err="1"/>
              <a:t>фундаменталния</a:t>
            </a:r>
            <a:r>
              <a:rPr lang="en-US" dirty="0"/>
              <a:t> проблем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паролите</a:t>
            </a:r>
            <a:r>
              <a:rPr lang="bg-BG" dirty="0"/>
              <a:t>?</a:t>
            </a:r>
            <a:br>
              <a:rPr lang="bg-BG" dirty="0"/>
            </a:br>
            <a:br>
              <a:rPr lang="bg-BG" dirty="0"/>
            </a:b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говорим</a:t>
            </a:r>
            <a:r>
              <a:rPr lang="en-US" dirty="0"/>
              <a:t> </a:t>
            </a:r>
            <a:r>
              <a:rPr lang="bg-BG" dirty="0"/>
              <a:t>просто, че</a:t>
            </a:r>
            <a:r>
              <a:rPr lang="en-US" dirty="0"/>
              <a:t> "паролите </a:t>
            </a:r>
            <a:r>
              <a:rPr lang="en-US" dirty="0" err="1"/>
              <a:t>са</a:t>
            </a:r>
            <a:r>
              <a:rPr lang="en-US" dirty="0"/>
              <a:t> </a:t>
            </a:r>
            <a:r>
              <a:rPr lang="en-US" dirty="0" err="1"/>
              <a:t>неудобни</a:t>
            </a:r>
            <a:r>
              <a:rPr lang="en-US" dirty="0"/>
              <a:t>“</a:t>
            </a:r>
            <a:r>
              <a:rPr lang="bg-BG" dirty="0"/>
              <a:t>, а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bg-BG" dirty="0"/>
              <a:t>техният </a:t>
            </a:r>
            <a:r>
              <a:rPr lang="en-US" dirty="0" err="1"/>
              <a:t>криптографски</a:t>
            </a:r>
            <a:r>
              <a:rPr lang="en-US" dirty="0"/>
              <a:t> дефект. Паролата е споделена тайна — и клиентът, и сървърът знаят едно и също нещо. Това означава, че при пробив на сървъра, цялата база от пароли е компрометирана, дори </a:t>
            </a:r>
            <a:r>
              <a:rPr lang="en-US" dirty="0" err="1"/>
              <a:t>ако</a:t>
            </a:r>
            <a:r>
              <a:rPr lang="en-US" dirty="0"/>
              <a:t> </a:t>
            </a:r>
            <a:r>
              <a:rPr lang="bg-BG" dirty="0"/>
              <a:t>паролите </a:t>
            </a:r>
            <a:r>
              <a:rPr lang="en-US" dirty="0" err="1"/>
              <a:t>са</a:t>
            </a:r>
            <a:r>
              <a:rPr lang="en-US" dirty="0"/>
              <a:t> хеширани — </a:t>
            </a:r>
            <a:r>
              <a:rPr lang="bg-BG" dirty="0"/>
              <a:t>има възможност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bg-BG" dirty="0"/>
              <a:t>бъдат</a:t>
            </a:r>
            <a:r>
              <a:rPr lang="en-US" dirty="0"/>
              <a:t> brute-force-</a:t>
            </a:r>
            <a:r>
              <a:rPr lang="en-US" dirty="0" err="1"/>
              <a:t>н</a:t>
            </a:r>
            <a:r>
              <a:rPr lang="bg-BG" dirty="0" err="1"/>
              <a:t>ати</a:t>
            </a:r>
            <a:r>
              <a:rPr lang="en-US" dirty="0"/>
              <a:t>.
</a:t>
            </a:r>
            <a:r>
              <a:rPr lang="en-US" dirty="0" err="1"/>
              <a:t>Фишинг</a:t>
            </a:r>
            <a:r>
              <a:rPr lang="bg-BG" dirty="0"/>
              <a:t> атаки са възможни</a:t>
            </a:r>
            <a:r>
              <a:rPr lang="en-US" dirty="0"/>
              <a:t>, защото няма криптографска връзка между паролата и домейна — потребителят може да въведе паролата си навсякъде. </a:t>
            </a:r>
            <a:br>
              <a:rPr lang="bg-BG" dirty="0"/>
            </a:br>
            <a:br>
              <a:rPr lang="bg-BG" dirty="0"/>
            </a:br>
            <a:r>
              <a:rPr lang="bg-BG" dirty="0"/>
              <a:t>Потребителите използват еднаква парола в различни места </a:t>
            </a:r>
            <a:r>
              <a:rPr lang="en-US" dirty="0"/>
              <a:t>— </a:t>
            </a:r>
            <a:r>
              <a:rPr lang="bg-BG" dirty="0"/>
              <a:t>това означава, че </a:t>
            </a:r>
            <a:r>
              <a:rPr lang="en-US" dirty="0" err="1"/>
              <a:t>един</a:t>
            </a:r>
            <a:r>
              <a:rPr lang="en-US" dirty="0"/>
              <a:t> </a:t>
            </a:r>
            <a:r>
              <a:rPr lang="en-US" dirty="0" err="1"/>
              <a:t>пробив</a:t>
            </a:r>
            <a:r>
              <a:rPr lang="bg-BG" dirty="0"/>
              <a:t> </a:t>
            </a:r>
            <a:r>
              <a:rPr lang="en-US" dirty="0" err="1"/>
              <a:t>дава</a:t>
            </a:r>
            <a:r>
              <a:rPr lang="en-US" dirty="0"/>
              <a:t> достъп навсякъде. </a:t>
            </a:r>
            <a:endParaRPr lang="bg-BG" dirty="0"/>
          </a:p>
          <a:p>
            <a:endParaRPr lang="bg-BG" dirty="0"/>
          </a:p>
          <a:p>
            <a:r>
              <a:rPr lang="bg-BG" dirty="0"/>
              <a:t>Възможни </a:t>
            </a:r>
            <a:r>
              <a:rPr lang="en-US" dirty="0" err="1"/>
              <a:t>са</a:t>
            </a:r>
            <a:r>
              <a:rPr lang="bg-BG" dirty="0"/>
              <a:t> атаки с повторение</a:t>
            </a:r>
            <a:r>
              <a:rPr lang="en-US" dirty="0"/>
              <a:t>, защото паролата е статична — няма nonce, няма challenge, няма freshness.
Фундаменталният </a:t>
            </a:r>
            <a:r>
              <a:rPr lang="en-US" dirty="0" err="1"/>
              <a:t>проблем</a:t>
            </a:r>
            <a:r>
              <a:rPr lang="en-US" dirty="0"/>
              <a:t> </a:t>
            </a:r>
            <a:r>
              <a:rPr lang="bg-BG" dirty="0"/>
              <a:t>на паролите </a:t>
            </a:r>
            <a:r>
              <a:rPr lang="en-US" dirty="0" err="1"/>
              <a:t>е</a:t>
            </a:r>
            <a:r>
              <a:rPr lang="en-US" dirty="0"/>
              <a:t>, че и двете страни притежават едно и също знание. </a:t>
            </a:r>
            <a:br>
              <a:rPr lang="bg-BG" dirty="0"/>
            </a:br>
            <a:br>
              <a:rPr lang="bg-BG" dirty="0"/>
            </a:br>
            <a:r>
              <a:rPr lang="bg-BG" dirty="0"/>
              <a:t>А</a:t>
            </a:r>
            <a:r>
              <a:rPr lang="en-US" dirty="0" err="1"/>
              <a:t>симетрична</a:t>
            </a:r>
            <a:r>
              <a:rPr lang="en-US" dirty="0"/>
              <a:t> </a:t>
            </a:r>
            <a:r>
              <a:rPr lang="en-US" dirty="0" err="1"/>
              <a:t>криптография</a:t>
            </a:r>
            <a:r>
              <a:rPr lang="bg-BG" dirty="0"/>
              <a:t> дава възможно решение на това.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Асиметричната криптография решава проблема елегантно. Вместо споделена тайна, имаме двойка ключове. Private key-ят никога не напуска автентикатора — той е генериран и съхранен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bg-BG" dirty="0"/>
              <a:t>сигурен компонент</a:t>
            </a:r>
            <a:r>
              <a:rPr lang="en-US" dirty="0"/>
              <a:t>. Public key-ят се изпраща до сървъра при регистрация. Дори при пълен пробив на сървъра, атакуващият получава само public keys — </a:t>
            </a:r>
            <a:r>
              <a:rPr lang="en-US" dirty="0" err="1"/>
              <a:t>напълно</a:t>
            </a:r>
            <a:r>
              <a:rPr lang="en-US" dirty="0"/>
              <a:t> </a:t>
            </a:r>
            <a:r>
              <a:rPr lang="en-US" dirty="0" err="1"/>
              <a:t>безполезн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съответните</a:t>
            </a:r>
            <a:r>
              <a:rPr lang="en-US" dirty="0"/>
              <a:t> private key.
Автентикацията работи като challenge-response: сървърът изпраща random challenge, клиентът го подписва с private key, сървърът верифицира подписа с public key.
WebAuthn използва ECDSA с крива P-256, известен като ES256. </a:t>
            </a:r>
            <a:r>
              <a:rPr lang="bg-BG" dirty="0"/>
              <a:t>Използва това вместо </a:t>
            </a:r>
            <a:r>
              <a:rPr lang="en-US" dirty="0"/>
              <a:t>RSA</a:t>
            </a:r>
            <a:r>
              <a:rPr lang="bg-BG" dirty="0"/>
              <a:t>,</a:t>
            </a:r>
            <a:r>
              <a:rPr lang="en-US" dirty="0"/>
              <a:t> </a:t>
            </a:r>
            <a:r>
              <a:rPr lang="bg-BG" dirty="0" err="1"/>
              <a:t>з</a:t>
            </a:r>
            <a:r>
              <a:rPr lang="en-US" dirty="0" err="1"/>
              <a:t>ащото</a:t>
            </a:r>
            <a:r>
              <a:rPr lang="en-US" dirty="0"/>
              <a:t> ECC ключовете са много по-малки — 256-bit ECC е еквивалентен на 3072-bit RSA</a:t>
            </a:r>
            <a:r>
              <a:rPr lang="bg-BG" dirty="0"/>
              <a:t>.</a:t>
            </a:r>
            <a:r>
              <a:rPr lang="en-US" dirty="0"/>
              <a:t> </a:t>
            </a:r>
            <a:r>
              <a:rPr lang="bg-BG" dirty="0"/>
              <a:t>О</a:t>
            </a:r>
            <a:r>
              <a:rPr lang="en-US" dirty="0" err="1"/>
              <a:t>перациите</a:t>
            </a:r>
            <a:r>
              <a:rPr lang="en-US" dirty="0"/>
              <a:t> </a:t>
            </a:r>
            <a:r>
              <a:rPr lang="en-US" dirty="0" err="1"/>
              <a:t>са</a:t>
            </a:r>
            <a:r>
              <a:rPr lang="en-US" dirty="0"/>
              <a:t> </a:t>
            </a:r>
            <a:r>
              <a:rPr lang="en-US" dirty="0" err="1"/>
              <a:t>по-бързи</a:t>
            </a:r>
            <a:r>
              <a:rPr lang="bg-BG" dirty="0"/>
              <a:t>,</a:t>
            </a:r>
            <a:r>
              <a:rPr lang="en-US" dirty="0"/>
              <a:t> </a:t>
            </a:r>
            <a:r>
              <a:rPr lang="bg-BG" dirty="0"/>
              <a:t>което</a:t>
            </a:r>
            <a:r>
              <a:rPr lang="en-US" dirty="0"/>
              <a:t> е критично за хардуерни автентикатори с ограничени ресурси, като secure elements в телефони или USB ключове.
</a:t>
            </a:r>
            <a:r>
              <a:rPr lang="bg-BG" dirty="0"/>
              <a:t>Процесът на </a:t>
            </a:r>
            <a:r>
              <a:rPr lang="bg-BG" dirty="0" err="1"/>
              <a:t>п</a:t>
            </a:r>
            <a:r>
              <a:rPr lang="en-US" dirty="0" err="1"/>
              <a:t>одпис</a:t>
            </a:r>
            <a:r>
              <a:rPr lang="bg-BG" dirty="0"/>
              <a:t> </a:t>
            </a:r>
            <a:r>
              <a:rPr lang="en-US" dirty="0" err="1"/>
              <a:t>е</a:t>
            </a:r>
            <a:r>
              <a:rPr lang="en-US" dirty="0"/>
              <a:t> стандартен ECDSA — хешираме данните, подписваме хеша с private key, верифицираме с public key. Резултатът е boolean — валиден или невалиден.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FIDO2 е рамката, която обединява всичко. </a:t>
            </a:r>
            <a:br>
              <a:rPr lang="bg-BG" dirty="0"/>
            </a:br>
            <a:br>
              <a:rPr lang="bg-BG" dirty="0"/>
            </a:br>
            <a:r>
              <a:rPr lang="bg-BG" dirty="0"/>
              <a:t>Във времето първо се е </a:t>
            </a:r>
            <a:r>
              <a:rPr lang="bg-BG" dirty="0" err="1"/>
              <a:t>изплзвало</a:t>
            </a:r>
            <a:r>
              <a:rPr lang="en-US" dirty="0"/>
              <a:t> UAF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биометрично</a:t>
            </a:r>
            <a:r>
              <a:rPr lang="en-US" dirty="0"/>
              <a:t> </a:t>
            </a:r>
            <a:r>
              <a:rPr lang="en-US" dirty="0" err="1"/>
              <a:t>удостоверяване</a:t>
            </a:r>
            <a:r>
              <a:rPr lang="bg-BG" dirty="0"/>
              <a:t>.</a:t>
            </a:r>
            <a:br>
              <a:rPr lang="bg-BG" dirty="0"/>
            </a:br>
            <a:r>
              <a:rPr lang="bg-BG" dirty="0"/>
              <a:t>След това се създава </a:t>
            </a:r>
            <a:r>
              <a:rPr lang="en-US" dirty="0"/>
              <a:t>U2F —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bg-BG" dirty="0"/>
              <a:t>като </a:t>
            </a:r>
            <a:r>
              <a:rPr lang="en-US" dirty="0" err="1"/>
              <a:t>втори</a:t>
            </a:r>
            <a:r>
              <a:rPr lang="en-US" dirty="0"/>
              <a:t> </a:t>
            </a:r>
            <a:r>
              <a:rPr lang="en-US" dirty="0" err="1"/>
              <a:t>фактор</a:t>
            </a:r>
            <a:r>
              <a:rPr lang="en-US" dirty="0"/>
              <a:t> с USB </a:t>
            </a:r>
            <a:r>
              <a:rPr lang="en-US" dirty="0" err="1"/>
              <a:t>ключове</a:t>
            </a:r>
            <a:r>
              <a:rPr lang="bg-BG" dirty="0"/>
              <a:t>.</a:t>
            </a:r>
            <a:br>
              <a:rPr lang="bg-BG" dirty="0"/>
            </a:br>
            <a:r>
              <a:rPr lang="bg-BG" dirty="0"/>
              <a:t>А</a:t>
            </a:r>
            <a:r>
              <a:rPr lang="en-US" dirty="0"/>
              <a:t> FIDO2 е обединението на двете в една универсална рамка.
Архитектурата се състои от три компонента. Relying Party — това е сървърът, вашето приложение. Браузърът предоставя WebAuthn API — </a:t>
            </a:r>
            <a:r>
              <a:rPr lang="en-US" dirty="0" err="1"/>
              <a:t>стандартен</a:t>
            </a:r>
            <a:r>
              <a:rPr lang="en-US" dirty="0"/>
              <a:t> JavaScript API, който уебсайтовете използват. И автентикаторът, който комуникира чрез CTAP2 протокол.
Между сървъра и браузъра комуникацията е стандартен JSON по HTTPS. Между браузъра и автентикатора — CBOR encoding </a:t>
            </a:r>
            <a:r>
              <a:rPr lang="en-US" dirty="0" err="1"/>
              <a:t>по</a:t>
            </a:r>
            <a:r>
              <a:rPr lang="en-US" dirty="0"/>
              <a:t> USB, NFC или Bluetooth </a:t>
            </a:r>
            <a:r>
              <a:rPr lang="bg-BG" dirty="0"/>
              <a:t>връзка</a:t>
            </a:r>
            <a:r>
              <a:rPr lang="en-US" dirty="0"/>
              <a:t>. CBOR е binary формат, подобен на JSON,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по-компактен</a:t>
            </a:r>
            <a:r>
              <a:rPr lang="bg-BG" dirty="0"/>
              <a:t>, което е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bg-BG" dirty="0"/>
              <a:t>ограничената бързина</a:t>
            </a:r>
            <a:r>
              <a:rPr lang="en-US" dirty="0"/>
              <a:t> на NFC </a:t>
            </a:r>
            <a:r>
              <a:rPr lang="en-US" dirty="0" err="1"/>
              <a:t>и</a:t>
            </a:r>
            <a:r>
              <a:rPr lang="en-US" dirty="0"/>
              <a:t> Bluetooth lite.
Ключов концепт е Relying Party ID, </a:t>
            </a:r>
            <a:r>
              <a:rPr lang="bg-BG" dirty="0"/>
              <a:t>това е </a:t>
            </a:r>
            <a:r>
              <a:rPr lang="en-US" dirty="0"/>
              <a:t>SHA-256 хеш на домейна, който е вграден в подписаните данни при всяка операция. Това е криптографската гаранция, че credential-ът е обвързан с конкретен origin. Ако сте на фалшив сайт — хешът е различен и credential-ът просто не съществува.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Как се извършва </a:t>
            </a:r>
            <a:r>
              <a:rPr lang="bg-BG" dirty="0" err="1"/>
              <a:t>р</a:t>
            </a:r>
            <a:r>
              <a:rPr lang="en-US" dirty="0" err="1"/>
              <a:t>егистрацията</a:t>
            </a:r>
            <a:r>
              <a:rPr lang="en-US" dirty="0"/>
              <a:t>, или attestation ceremony.
Първо, сървърът генерира криптографски случаен challenge — минимум 32 байта. Това е nonce-ът, който гарантира freshness.
Второ, браузърът създава clientDataJSON обект. Той съдържа challenge-а, origin-а на сайта и типа на операцията. </a:t>
            </a:r>
            <a:r>
              <a:rPr lang="en-US" dirty="0" err="1"/>
              <a:t>Важно</a:t>
            </a:r>
            <a:r>
              <a:rPr lang="bg-BG" dirty="0"/>
              <a:t>, че </a:t>
            </a:r>
            <a:r>
              <a:rPr lang="en-US" dirty="0"/>
              <a:t>origin-</a:t>
            </a:r>
            <a:r>
              <a:rPr lang="en-US" dirty="0" err="1"/>
              <a:t>ът</a:t>
            </a:r>
            <a:r>
              <a:rPr lang="en-US" dirty="0"/>
              <a:t> е автоматично попълнен от браузъра, не от JavaScript-а на страницата. Атакуващ JavaScript не може да го подмени.
Трето, автентикаторът генерира нова двойка ключове — private и public. Private key-ът се съхранява в secure element-</a:t>
            </a:r>
            <a:r>
              <a:rPr lang="en-US" dirty="0" err="1"/>
              <a:t>а</a:t>
            </a:r>
            <a:r>
              <a:rPr lang="bg-BG" dirty="0"/>
              <a:t> на </a:t>
            </a:r>
            <a:r>
              <a:rPr lang="bg-BG" dirty="0" err="1"/>
              <a:t>аутентикиращото</a:t>
            </a:r>
            <a:r>
              <a:rPr lang="bg-BG" dirty="0"/>
              <a:t> </a:t>
            </a:r>
            <a:r>
              <a:rPr lang="bg-BG" dirty="0" err="1"/>
              <a:t>устройсвто</a:t>
            </a:r>
            <a:r>
              <a:rPr lang="en-US" dirty="0"/>
              <a:t>.
Четвърто, автентикаторът </a:t>
            </a:r>
            <a:r>
              <a:rPr lang="en-US" dirty="0" err="1"/>
              <a:t>подписва</a:t>
            </a:r>
            <a:r>
              <a:rPr lang="en-US" dirty="0"/>
              <a:t> </a:t>
            </a:r>
            <a:r>
              <a:rPr lang="bg-BG" dirty="0"/>
              <a:t>събраните</a:t>
            </a:r>
            <a:r>
              <a:rPr lang="en-US" dirty="0"/>
              <a:t> </a:t>
            </a:r>
            <a:r>
              <a:rPr lang="en-US" dirty="0" err="1"/>
              <a:t>authenticatorData</a:t>
            </a:r>
            <a:r>
              <a:rPr lang="en-US" dirty="0"/>
              <a:t> и SHA-256 </a:t>
            </a:r>
            <a:r>
              <a:rPr lang="en-US" dirty="0" err="1"/>
              <a:t>хеш</a:t>
            </a:r>
            <a:r>
              <a:rPr lang="en-US" dirty="0"/>
              <a:t> на clientDataJSON. </a:t>
            </a:r>
            <a:r>
              <a:rPr lang="bg-BG" dirty="0"/>
              <a:t>За подписа </a:t>
            </a:r>
            <a:r>
              <a:rPr lang="en-US" dirty="0" err="1"/>
              <a:t>с</a:t>
            </a:r>
            <a:r>
              <a:rPr lang="bg-BG" dirty="0"/>
              <a:t>е използва</a:t>
            </a:r>
            <a:r>
              <a:rPr lang="en-US" dirty="0"/>
              <a:t> attestation key — отделен ключ, специфичен за модела на автентикатора.
Пето, връща attestation object, който съдържа формата, самият подпис с евентуална сертификатна верига, и authenticatorData.
И накрая, сървърът верифицира подписа и съхранява public key-а и credential ID-то.
</a:t>
            </a:r>
            <a:r>
              <a:rPr lang="bg-BG" dirty="0"/>
              <a:t>О</a:t>
            </a:r>
            <a:r>
              <a:rPr lang="en-US" dirty="0" err="1"/>
              <a:t>тдолу</a:t>
            </a:r>
            <a:r>
              <a:rPr lang="bg-BG" dirty="0"/>
              <a:t> може да видим </a:t>
            </a:r>
            <a:r>
              <a:rPr lang="en-US" dirty="0" err="1"/>
              <a:t>authenticatorData</a:t>
            </a:r>
            <a:r>
              <a:rPr lang="en-US" dirty="0"/>
              <a:t> </a:t>
            </a:r>
            <a:r>
              <a:rPr lang="en-US" dirty="0" err="1"/>
              <a:t>структурата</a:t>
            </a:r>
            <a:r>
              <a:rPr lang="en-US" dirty="0"/>
              <a:t>. rpIdHash е 32 байта SHA-256 на домейна. Flags байтът съдържа User Present, User Verified, Attested Credential Data и Extension Data битове. И signCount — 4 байта брояч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bg-BG" dirty="0"/>
              <a:t>проверка за </a:t>
            </a:r>
            <a:r>
              <a:rPr lang="en-US" dirty="0" err="1"/>
              <a:t>клониране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Автентикацията, или assertion ceremony, </a:t>
            </a:r>
            <a:r>
              <a:rPr lang="en-US" dirty="0" err="1"/>
              <a:t>е</a:t>
            </a:r>
            <a:r>
              <a:rPr lang="en-US" dirty="0"/>
              <a:t> </a:t>
            </a:r>
            <a:r>
              <a:rPr lang="en-US" dirty="0" err="1"/>
              <a:t>подобна</a:t>
            </a:r>
            <a:r>
              <a:rPr lang="en-US" dirty="0"/>
              <a:t>.
Сървърът отново изпраща challenge, плюс allowCredentials — списък от credential ID-та, регистрирани за този потребител. При passkeys този списък може да </a:t>
            </a:r>
            <a:r>
              <a:rPr lang="en-US" dirty="0" err="1"/>
              <a:t>е</a:t>
            </a:r>
            <a:r>
              <a:rPr lang="en-US" dirty="0"/>
              <a:t> </a:t>
            </a:r>
            <a:r>
              <a:rPr lang="en-US" dirty="0" err="1"/>
              <a:t>празен</a:t>
            </a:r>
            <a:r>
              <a:rPr lang="bg-BG" dirty="0"/>
              <a:t>.</a:t>
            </a:r>
            <a:r>
              <a:rPr lang="en-US" dirty="0"/>
              <a:t>
Браузърът създава clientDataJSON, но с type "webauthn.get" вместо "webauthn.create".
Автентикаторът търси credential-а по rpIdHash и credentialId. Ако rpIdHash не съвпада — credential-ът не се намира. Това е фишинг защитата в действие.
Потребителят </a:t>
            </a:r>
            <a:r>
              <a:rPr lang="en-US" dirty="0" err="1"/>
              <a:t>потвърждава</a:t>
            </a:r>
            <a:r>
              <a:rPr lang="en-US" dirty="0"/>
              <a:t> </a:t>
            </a:r>
            <a:r>
              <a:rPr lang="bg-BG" dirty="0"/>
              <a:t>като използва</a:t>
            </a:r>
            <a:r>
              <a:rPr lang="en-US" dirty="0"/>
              <a:t> биометрия, PIN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bg-BG" dirty="0"/>
              <a:t>нещо друго спрямо </a:t>
            </a:r>
            <a:r>
              <a:rPr lang="bg-BG" dirty="0" err="1"/>
              <a:t>автентикатора</a:t>
            </a:r>
            <a:r>
              <a:rPr lang="en-US" dirty="0"/>
              <a:t>. Автентикаторът подписва authenticatorData и хеша на clientDataJSON, но този път с credential private key, не с attestation key.
Сървърът верифицира подписа с public key-а, запазен при регистрацията.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проверява</a:t>
            </a:r>
            <a:r>
              <a:rPr lang="en-US" dirty="0"/>
              <a:t> дали signCount е по-голям от последно записаната стойност. Ако получи по-нисък counter — credential-ът вероятно е клониран.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Атестацията отговаря на въпроса: "Може ли сървърът да верифицира какъв е автентикаторът?"
При "None" — не може. Сървърът приема credential-а на доверие. Това е стандартът за passkeys — не се интересуваме от конкретния хардуер.
"Self" означава, че credential key-ът подписва себе си. Доказва, че притежателят има private key-а, но не казва нищо за хардуера.
"Basic" или "Packed" е интересният случай. Автентикаторът има вграден attestation key със сертификатна верига — x5c — която води до root </a:t>
            </a:r>
            <a:r>
              <a:rPr lang="bg-BG" dirty="0"/>
              <a:t>сертификат</a:t>
            </a:r>
            <a:r>
              <a:rPr lang="en-US" dirty="0"/>
              <a:t> на производителя, например Yubico. Сървърът може да верифицира, че credential-ът е създаден от конкретен модел YubiKey.
"AttCA" е подобен, но с динамично издадени сертификати от Certificate Authority, което подобрява privacy-то — различни credential-и нямат един и същ attestation сертификат.
FIDO Metadata Service е глобален регистър, поддържан от FIDO Alliance, който съдържа root сертификатите на всички сертифицирани автентикатори. </a:t>
            </a:r>
            <a:r>
              <a:rPr lang="bg-BG" dirty="0"/>
              <a:t>Използва се</a:t>
            </a:r>
            <a:r>
              <a:rPr lang="en-US" dirty="0"/>
              <a:t>,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политики</a:t>
            </a:r>
            <a:r>
              <a:rPr lang="en-US" dirty="0"/>
              <a:t> — например "само YubiKey 5“</a:t>
            </a:r>
            <a:r>
              <a:rPr lang="bg-BG" dirty="0"/>
              <a:t> серия може да се използва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А</a:t>
            </a:r>
            <a:r>
              <a:rPr lang="en-US" dirty="0" err="1"/>
              <a:t>рхитектурния</a:t>
            </a:r>
            <a:r>
              <a:rPr lang="en-US" dirty="0"/>
              <a:t> split, който определя разликата между passkeys и хардуерни ключове.
Non-discoverable credentials — credential ID-то се съхранява на сървъра. При login потребителят въвежда username, сървърът намира credential ID-тата за този потребител и ги изпраща в allowCredentials. Автентикаторът търси по ID. Предимството е, че не заема storage на автентикатора — а хардуерните ключове имат ограничен storage, обикновено 25-50 resident key слота. Затова този подход е типичен за хардуерни ключове.
Discoverable credentials, или resident keys, обръщат модела. Credential-ът се съхранява на автентикатора. При login, allowCredentials е празен списък. Автентикаторът търси всички credentials за дадения rpId и предлага на потребителя да избере. Резултат — login без username. Това </a:t>
            </a:r>
            <a:r>
              <a:rPr lang="en-US" dirty="0" err="1"/>
              <a:t>е</a:t>
            </a:r>
            <a:r>
              <a:rPr lang="en-US" dirty="0"/>
              <a:t> </a:t>
            </a:r>
            <a:r>
              <a:rPr lang="bg-BG" dirty="0"/>
              <a:t>плюс </a:t>
            </a:r>
            <a:r>
              <a:rPr lang="en-US" dirty="0" err="1"/>
              <a:t>на</a:t>
            </a:r>
            <a:r>
              <a:rPr lang="en-US" dirty="0"/>
              <a:t> passkeys — отваряте сайта, получавате prompt за биометрия, </a:t>
            </a:r>
            <a:r>
              <a:rPr lang="en-US" dirty="0" err="1"/>
              <a:t>избирате</a:t>
            </a:r>
            <a:r>
              <a:rPr lang="en-US" dirty="0"/>
              <a:t> </a:t>
            </a:r>
            <a:r>
              <a:rPr lang="en-US" dirty="0" err="1"/>
              <a:t>акаунт</a:t>
            </a:r>
            <a:r>
              <a:rPr lang="bg-BG" dirty="0"/>
              <a:t> и сте влезнали</a:t>
            </a:r>
            <a:r>
              <a:rPr lang="en-US" dirty="0"/>
              <a:t>.
Флагът, който контролира това поведение, е residentKey в authenticatorSelection. "required" за passkeys, "discouraged" за хардуерни ключове.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Passkeys вземат discoverable credentials и добавят cloud </a:t>
            </a:r>
            <a:r>
              <a:rPr lang="en-US" dirty="0" err="1"/>
              <a:t>синхронизация</a:t>
            </a:r>
            <a:r>
              <a:rPr lang="en-US" dirty="0"/>
              <a:t>.
Private key </a:t>
            </a:r>
            <a:r>
              <a:rPr lang="en-US" dirty="0" err="1"/>
              <a:t>се</a:t>
            </a:r>
            <a:r>
              <a:rPr lang="en-US" dirty="0"/>
              <a:t> извлича от secure element-а, криптира се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ключ</a:t>
            </a:r>
            <a:r>
              <a:rPr lang="bg-BG" dirty="0"/>
              <a:t> </a:t>
            </a:r>
            <a:r>
              <a:rPr lang="en-US" dirty="0" err="1"/>
              <a:t>от</a:t>
            </a:r>
            <a:r>
              <a:rPr lang="en-US" dirty="0"/>
              <a:t> device credentials — биометрия или PIN — и cloud account key, и се качва в encrypted vault — iCloud Keychain за Apple, Google Password Manager за Android и Chrome,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bg-BG" dirty="0"/>
              <a:t>други </a:t>
            </a:r>
            <a:r>
              <a:rPr lang="en-US" dirty="0" err="1"/>
              <a:t>мениджъри</a:t>
            </a:r>
            <a:r>
              <a:rPr lang="en-US" dirty="0"/>
              <a:t> като 1Password.
Критичната промяна в trust модела е: преди, с хардуерен ключ, private key-ът физически не може да бъде извлечен. Сега, той е криптиран в cloud </a:t>
            </a:r>
            <a:r>
              <a:rPr lang="bg-BG" dirty="0"/>
              <a:t>и до някаква степен </a:t>
            </a:r>
            <a:r>
              <a:rPr lang="en-US" dirty="0" err="1"/>
              <a:t>зависи</a:t>
            </a:r>
            <a:r>
              <a:rPr lang="en-US" dirty="0"/>
              <a:t> от сигурността на cloud provider-а. Ако някой </a:t>
            </a:r>
            <a:r>
              <a:rPr lang="en-US" dirty="0" err="1"/>
              <a:t>компрометира</a:t>
            </a:r>
            <a:r>
              <a:rPr lang="en-US" dirty="0"/>
              <a:t> Apple (</a:t>
            </a:r>
            <a:r>
              <a:rPr lang="en-US" dirty="0" err="1"/>
              <a:t>iClould</a:t>
            </a:r>
            <a:r>
              <a:rPr lang="en-US" dirty="0"/>
              <a:t>) </a:t>
            </a:r>
            <a:r>
              <a:rPr lang="en-US" dirty="0" err="1"/>
              <a:t>акаунт</a:t>
            </a:r>
            <a:r>
              <a:rPr lang="en-US" dirty="0"/>
              <a:t>, теоретично получава достъп до passkeys.
Затова passkeys не използват attestation — когато ключът може да се синхронизира между устройства, няма смисъл да се атестира конкретен хардуер.
Device-bound passkeys са компромисът — discoverable credential, </a:t>
            </a:r>
            <a:r>
              <a:rPr lang="en-US" dirty="0" err="1"/>
              <a:t>поддържа</a:t>
            </a:r>
            <a:r>
              <a:rPr lang="en-US" dirty="0"/>
              <a:t> </a:t>
            </a:r>
            <a:r>
              <a:rPr lang="bg-BG" dirty="0"/>
              <a:t>вход без потребителско име</a:t>
            </a:r>
            <a:r>
              <a:rPr lang="en-US" dirty="0"/>
              <a:t>, но не се синхронизира. Windows Hello и platform Touch ID работят така. </a:t>
            </a:r>
            <a:r>
              <a:rPr lang="bg-BG" dirty="0"/>
              <a:t>Работят като </a:t>
            </a:r>
            <a:r>
              <a:rPr lang="en-US" dirty="0"/>
              <a:t>passkey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bg-BG" dirty="0"/>
              <a:t>да се синхронизират в </a:t>
            </a:r>
            <a:r>
              <a:rPr lang="en-US" dirty="0"/>
              <a:t>cloud</a:t>
            </a:r>
            <a:r>
              <a:rPr lang="bg-BG" dirty="0"/>
              <a:t>-а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Систематичен анализ на модела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заплахи</a:t>
            </a:r>
            <a:r>
              <a:rPr lang="bg-BG" dirty="0"/>
              <a:t>те</a:t>
            </a:r>
            <a:r>
              <a:rPr lang="en-US" dirty="0"/>
              <a:t>.
Фишинг: rpIdHash е SHA-256 на origin-а и е вграден в подписаните данни. Ако потребителят е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phishing.com</a:t>
            </a:r>
            <a:r>
              <a:rPr lang="en-US" dirty="0"/>
              <a:t> вместо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bank.com</a:t>
            </a:r>
            <a:r>
              <a:rPr lang="en-US" dirty="0"/>
              <a:t>, rpIdHash е различен. Автентикаторът просто не намира credential за този rpId. Фишингът е криптографски невъзможен — не зависи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потребителя</a:t>
            </a:r>
            <a:r>
              <a:rPr lang="en-US" dirty="0"/>
              <a:t>.
Man-in-the-Middle: origin-ът е част от clientDataJSON, който се хешира и подписва. Дори ако атакуващият е между потребителя и сървъра, не може да промени origin-а без да инвалидира подписа. Комбинирано с TLS, каналът е защитен.
Replay атаки: challenge-ът е еднократен — сървърът го генерира, верифицира го при отговор и го invalidira. Плюс signCount — всяка автентикация инкрементира counter-а. Повторен payload има стар counter и се отхвърля.
Пробив на сървъра: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парол</a:t>
            </a:r>
            <a:r>
              <a:rPr lang="bg-BG" dirty="0" err="1"/>
              <a:t>ите</a:t>
            </a:r>
            <a:r>
              <a:rPr lang="bg-BG" dirty="0"/>
              <a:t>, пробивът, </a:t>
            </a:r>
            <a:r>
              <a:rPr lang="en-US" dirty="0" err="1"/>
              <a:t>дава</a:t>
            </a:r>
            <a:r>
              <a:rPr lang="en-US" dirty="0"/>
              <a:t> </a:t>
            </a:r>
            <a:r>
              <a:rPr lang="bg-BG" dirty="0"/>
              <a:t>достъп до </a:t>
            </a:r>
            <a:r>
              <a:rPr lang="bg-BG" dirty="0" err="1"/>
              <a:t>хешовете</a:t>
            </a:r>
            <a:r>
              <a:rPr lang="bg-BG" dirty="0"/>
              <a:t> на паролата</a:t>
            </a:r>
            <a:r>
              <a:rPr lang="en-US" dirty="0"/>
              <a:t>, които могат да </a:t>
            </a:r>
            <a:r>
              <a:rPr lang="en-US" dirty="0" err="1"/>
              <a:t>бъдат</a:t>
            </a:r>
            <a:r>
              <a:rPr lang="en-US" dirty="0"/>
              <a:t> </a:t>
            </a:r>
            <a:r>
              <a:rPr lang="bg-BG" dirty="0"/>
              <a:t>разбити</a:t>
            </a:r>
            <a:r>
              <a:rPr lang="en-US" dirty="0"/>
              <a:t>. При FIDO2, breach-</a:t>
            </a:r>
            <a:r>
              <a:rPr lang="en-US" dirty="0" err="1"/>
              <a:t>ът</a:t>
            </a:r>
            <a:r>
              <a:rPr lang="en-US" dirty="0"/>
              <a:t> </a:t>
            </a:r>
            <a:r>
              <a:rPr lang="bg-BG" dirty="0"/>
              <a:t>се достъпват публичните ключове, които са </a:t>
            </a:r>
            <a:r>
              <a:rPr lang="en-US" dirty="0" err="1"/>
              <a:t>криптографски</a:t>
            </a:r>
            <a:r>
              <a:rPr lang="en-US" dirty="0"/>
              <a:t> безполезни без private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FIDO2 не е перфектен. Ето оставащите рискове.
Клониране на автентикатор: при хардуерни ключове, </a:t>
            </a:r>
            <a:r>
              <a:rPr lang="en-US" dirty="0" err="1"/>
              <a:t>signCount</a:t>
            </a:r>
            <a:r>
              <a:rPr lang="en-US" dirty="0"/>
              <a:t> </a:t>
            </a:r>
            <a:r>
              <a:rPr lang="bg-BG" dirty="0"/>
              <a:t>сигурно показва дали </a:t>
            </a:r>
            <a:r>
              <a:rPr lang="bg-BG" dirty="0" err="1"/>
              <a:t>автентикатора</a:t>
            </a:r>
            <a:r>
              <a:rPr lang="bg-BG" dirty="0"/>
              <a:t> е клониран</a:t>
            </a:r>
            <a:r>
              <a:rPr lang="en-US" dirty="0"/>
              <a:t>. Но при passkeys, counter-ът се синхронизира между устройства и може да е inconsistent. Sync provider-ът контролира копията, но signCount вече не е надежден индикатор.
Компрометиран cloud акаунт: </a:t>
            </a:r>
            <a:r>
              <a:rPr lang="en-US" dirty="0" err="1"/>
              <a:t>Ако</a:t>
            </a:r>
            <a:r>
              <a:rPr lang="en-US" dirty="0"/>
              <a:t> атакуващ поеме контрол над вашия iCloud или Google акаунт, потенциално получава достъп до всички passkeys. </a:t>
            </a:r>
            <a:r>
              <a:rPr lang="bg-BG" dirty="0"/>
              <a:t>За да се защитим, е добра практика да използваме </a:t>
            </a:r>
            <a:r>
              <a:rPr lang="en-US" dirty="0"/>
              <a:t>device-bound passkeys за критични акаунти,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bg-BG" dirty="0" err="1"/>
              <a:t>мултифакторна</a:t>
            </a:r>
            <a:r>
              <a:rPr lang="bg-BG" dirty="0"/>
              <a:t> </a:t>
            </a:r>
            <a:r>
              <a:rPr lang="bg-BG" dirty="0" err="1"/>
              <a:t>аутентикация</a:t>
            </a:r>
            <a:r>
              <a:rPr lang="bg-BG" dirty="0"/>
              <a:t> </a:t>
            </a:r>
            <a:r>
              <a:rPr lang="en-US" dirty="0" err="1"/>
              <a:t>на</a:t>
            </a:r>
            <a:r>
              <a:rPr lang="en-US" dirty="0"/>
              <a:t> cloud </a:t>
            </a:r>
            <a:r>
              <a:rPr lang="en-US" dirty="0" err="1"/>
              <a:t>акаунт</a:t>
            </a:r>
            <a:r>
              <a:rPr lang="bg-BG" dirty="0"/>
              <a:t>а</a:t>
            </a:r>
            <a:r>
              <a:rPr lang="en-US" dirty="0"/>
              <a:t>.
Downgrade атака: ако сайтът поддържа и парола, и FIDO2, атакуващият може да махне WebAuthn опцията и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bg-BG" dirty="0"/>
              <a:t>използва </a:t>
            </a:r>
            <a:r>
              <a:rPr lang="en-US" dirty="0" err="1"/>
              <a:t>парола</a:t>
            </a:r>
            <a:r>
              <a:rPr lang="en-US" dirty="0"/>
              <a:t>. Решението </a:t>
            </a:r>
            <a:r>
              <a:rPr lang="en-US" dirty="0" err="1"/>
              <a:t>е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акаунти с регистриран FIDO2 credential, забранете password login изцяло.
</a:t>
            </a:r>
            <a:r>
              <a:rPr lang="bg-BG" dirty="0"/>
              <a:t>Социално </a:t>
            </a:r>
            <a:r>
              <a:rPr lang="bg-BG" dirty="0" err="1"/>
              <a:t>инжинерство</a:t>
            </a:r>
            <a:r>
              <a:rPr lang="en-US" dirty="0"/>
              <a:t>: FIDO2 не може да спре потребител, който доброволно одобрява злонамерена заявка. User Verification помага — изисква биометрия или PIN — но ако потребителят активно одобрява, FIDO2 не може да го спре.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Ето обобщението в таблица.
Passkeys съхраняват private key в cloud, криптиран. Hardware keys — в secure element на физическото устройство. Passkeys се синхронизират между устройства, hardware keys — не.
При attestation: passkeys обикновено използват "none", защото ключът може да е на всяко устройство. Hardware keys поддържат пълна attestation с x5c сертификатна верига — сървърът може да верифицира точния модел.
Recovery: при passkeys — cloud backup. При hardware keys — трябва да имате регистриран backup ключ, иначе губите достъп.
Clone detection: при hardware keys signCount е надежден. При passkeys — не, заради синхронизацията.
Security ceiling: hardware keys дават максимална сигурност — private key физически не може да бъде извлечен. При passkeys зависите от cloud provider-а.
Препоръката: passkeys за ежедневна употреба — email, social media, shopping. Hardware keys за enterprise admin панели, cloud infrastructure, cryptocurrency, password manager master account. Хибриден подход е идеалният.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Демо</a:t>
            </a:r>
            <a:r>
              <a:rPr lang="en-US" dirty="0"/>
              <a:t>
</a:t>
            </a:r>
            <a:r>
              <a:rPr lang="en-US" dirty="0" err="1"/>
              <a:t>Благодаря</a:t>
            </a:r>
            <a:r>
              <a:rPr lang="bg-BG" dirty="0"/>
              <a:t> за вниманието!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88D2C-754D-3B75-706D-058D969F9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55287-92D5-7FF4-90C5-42B5968C0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ABF57-F96A-FDA2-2FDE-632A689FC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Демо</a:t>
            </a:r>
            <a:r>
              <a:rPr lang="en-US" dirty="0"/>
              <a:t>
</a:t>
            </a:r>
            <a:r>
              <a:rPr lang="en-US" dirty="0" err="1"/>
              <a:t>Благодаря</a:t>
            </a:r>
            <a:r>
              <a:rPr lang="bg-BG" dirty="0"/>
              <a:t> за вниманието!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D2541-9018-6017-40BB-227CF00E34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539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30B68-61CC-7022-F8EF-AE596218F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38F2F-01C6-6B7B-C526-8F7F27759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9023C-4E11-A766-B499-C5FEC2846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Демо</a:t>
            </a:r>
            <a:r>
              <a:rPr lang="en-US" dirty="0"/>
              <a:t>
</a:t>
            </a:r>
            <a:r>
              <a:rPr lang="en-US" dirty="0" err="1"/>
              <a:t>Благодаря</a:t>
            </a:r>
            <a:r>
              <a:rPr lang="bg-BG" dirty="0"/>
              <a:t> за вниманието!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4F23A-7975-01B0-BA2A-279FCF6393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33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65DC9-DED3-210A-F087-69F87ADC4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48A81-68F4-3FBC-1233-B7C29623F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BFF5F9-6CF4-0010-00C0-4EFEA586B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Демо</a:t>
            </a:r>
            <a:r>
              <a:rPr lang="en-US" dirty="0"/>
              <a:t>
</a:t>
            </a:r>
            <a:r>
              <a:rPr lang="en-US" dirty="0" err="1"/>
              <a:t>Благодаря</a:t>
            </a:r>
            <a:r>
              <a:rPr lang="bg-BG" dirty="0"/>
              <a:t> за вниманието!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D3ACB-8FAF-F68E-2471-160C9D64A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19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0972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286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Криптографски принципи зад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автентикация без парола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FIDO2  ·  WebAuthn  ·  Passkeys  ·  CTAP2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4434840"/>
            <a:ext cx="2286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Защо паролите се провалят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840480" cy="146304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2801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Споделена тайна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1645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Сървърът съхранява деривация на паролата. При пробив — цялата база е компрометирана.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0" y="1097280"/>
            <a:ext cx="3840480" cy="146304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28016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6636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Фишинг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754880" y="1645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Потребителят може да въведе паролата си в имитиращ сайт. Няма криптографска връзка с домейна.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7200" y="2788920"/>
            <a:ext cx="3840480" cy="146304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7180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600" b="1" dirty="0" err="1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Преизползване</a:t>
            </a:r>
            <a:r>
              <a:rPr lang="bg-BG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на </a:t>
            </a:r>
            <a:r>
              <a:rPr lang="bg-BG" sz="1600" b="1" dirty="0" err="1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пароло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40080" y="33375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Повторно използване на пароли между сайтове. Един пробив → достъп навсякъде.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572000" y="2788920"/>
            <a:ext cx="3840480" cy="146304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97180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6636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</a:t>
            </a:r>
            <a:r>
              <a:rPr lang="en-US" sz="1600" b="1" dirty="0" err="1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таки</a:t>
            </a:r>
            <a:r>
              <a:rPr lang="bg-BG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с повтаряне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4754880" y="33375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Прихваната парола може да се използва многократно. Няма nonce или challenge.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Фундаменталният проблем: и двете страни притежават едно и също знание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Асиметрична криптография — основи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Двойка ключове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E5A0"/>
                </a:solidFill>
              </a:rPr>
              <a:t>Private Key (sk)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</a:rPr>
              <a:t>Остава само при потребителя. Никога не напуска автентикатора.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</a:rPr>
              <a:t>Public Key (pk)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</a:rPr>
              <a:t>Изпраща се до сървъра при регистрация. Дори при пробив — безполезен без sk.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Challenge-Response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</a:rPr>
              <a:t>Сървър → challenge → клиент подписва с sk → сървър верифицира с pk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347472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ECDSA (ES256)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84632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Крива: NIST P-256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</a:rPr>
              <a:t>256-bit ключове, еквивалент на 3072-bit RSA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Защо не RSA?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</a:rPr>
              <a:t>По-малки ключове, по-бързи операции, идеално за хардуерни автентикатори с ограничени ресурси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Подпис: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sign(sk, H(data))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Верификация: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verify(pk, σ, H(data)) → bool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FIDO2 архитектура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Еволюция: UAF → U2F → FIDO2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2560320" cy="2011680"/>
          </a:xfrm>
          <a:prstGeom prst="rect">
            <a:avLst/>
          </a:prstGeom>
          <a:solidFill>
            <a:srgbClr val="1A2D44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182880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Relying Party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(Сървър)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91840" y="1645920"/>
            <a:ext cx="2560320" cy="2011680"/>
          </a:xfrm>
          <a:prstGeom prst="rect">
            <a:avLst/>
          </a:prstGeom>
          <a:solidFill>
            <a:srgbClr val="1A2D44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182880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2900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Браузър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(WebAuthn API)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126480" y="1645920"/>
            <a:ext cx="2560320" cy="2011680"/>
          </a:xfrm>
          <a:prstGeom prst="rect">
            <a:avLst/>
          </a:prstGeom>
          <a:solidFill>
            <a:srgbClr val="1A2D44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182880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364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Автентикатор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(CTAP2)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3063240" y="2560320"/>
            <a:ext cx="228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5897880" y="2560320"/>
            <a:ext cx="228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2560320" y="3749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/ HTTPS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2120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CBOR / USB·NFC·BLE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Relying Party ID (rpId): </a:t>
            </a:r>
            <a:r>
              <a:rPr lang="en-US" sz="1200" dirty="0">
                <a:solidFill>
                  <a:srgbClr val="B0C4D8"/>
                </a:solidFill>
              </a:rPr>
              <a:t>SHA-256 хеш на домейна, вграден в подписаните данни. Гарантира, че credential-ът е обвързан с конкретен origin. Това е ключът срещу фишинг.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Регистрация (Attestation Ceremony)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Сървърът генерира случаен challenge (32+ байта)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261872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261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12618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Браузърът създава clientDataJSON = { challenge, origin, type 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609344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16093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160934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Автентикаторът генерира нова двойка ключове (sk, pk)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1956816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19568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195681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Подписва: σ = sign(attestKey, authData ‖ H(clientDataJSON))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304288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2304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400" y="23042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Връща attestation object: { fmt, attStmt, authData }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" y="2651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Сървърът верифицира подписа и съхранява pk + credentialId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3337560"/>
            <a:ext cx="8229600" cy="1508760"/>
          </a:xfrm>
          <a:prstGeom prst="rect">
            <a:avLst/>
          </a:prstGeom>
          <a:solidFill>
            <a:srgbClr val="1A2D4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authenticatorData структура: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rpIdHash (32B) | flags (1B: UP·UV·AT·ED) | signCount (4B) | attestedCredData (credId + pk)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rpIdHash = SHA-256(rpId) — криптографска връзка с домейна. signCount — брояч за детекция на клониране.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Автентикация (Assertion Ceremony)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Сървърът изпраща challenge + allowCredentials (списък credentialId)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261872"/>
            <a:ext cx="320040" cy="320040"/>
          </a:xfrm>
          <a:prstGeom prst="ellipse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261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12618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Браузърът създава clientDataJSON = { challenge, origin, type: 'webauthn.get' 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609344"/>
            <a:ext cx="320040" cy="320040"/>
          </a:xfrm>
          <a:prstGeom prst="ellipse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16093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160934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Автентикаторът намира credential-а по rpIdHash + credentialId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1956816"/>
            <a:ext cx="320040" cy="320040"/>
          </a:xfrm>
          <a:prstGeom prst="ellipse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19568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195681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Потребителят потвърждава (биометрия / PIN / tap)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304288"/>
            <a:ext cx="320040" cy="320040"/>
          </a:xfrm>
          <a:prstGeom prst="ellipse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2304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400" y="23042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Подписва: σ = sign(sk, authData ‖ H(clientDataJSON))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20040" cy="320040"/>
          </a:xfrm>
          <a:prstGeom prst="ellipse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" y="2651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Сървърът верифицира σ с pk, проверява signCount &gt; stored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3337560"/>
            <a:ext cx="8229600" cy="1508760"/>
          </a:xfrm>
          <a:prstGeom prst="rect">
            <a:avLst/>
          </a:prstGeom>
          <a:solidFill>
            <a:srgbClr val="1A2D44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Ключова разлика с регистрацията: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" y="3749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автентикация се подписва с credential private key (sk), не с attestation key. Сървърът верифицира с публичния ключ (pk), запазен при регистрацията. signCount се инкрементира — ако сървърът получи по-нисък counter, credential-ът е клониран.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Атестация — верифициране на автентикатора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54864" cy="731520"/>
          </a:xfrm>
          <a:prstGeom prst="rect">
            <a:avLst/>
          </a:prstGeom>
          <a:solidFill>
            <a:srgbClr val="7B8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8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атестация. Сървърът не знае какъв е автентикаторът. Типично за passkeys.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54864" cy="7315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2240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key подписва себе си. Доказва притежание, но не и произход на хардуера.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834640"/>
            <a:ext cx="54864" cy="7315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(Packed)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1520" y="3154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key + x5c сертификатна верига до FIDO root CA. Доказва make/model.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" y="3749040"/>
            <a:ext cx="54864" cy="73152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52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AttCA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1520" y="4069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Certificate Authority. Динамично издадени сертификати. По-добра privacy.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A2D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 Metadata Service (MDS) — глобален регистър на сертифицирани автентикатори и техните root сертификати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Discoverable vs Non-Discoverable Credentials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Non-Discoverable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residentKey: "discouraged"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ID се съхранява на сървъра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login: потребителят въвежда username → сървърът изпраща credentialId в allowCredentials → автентикаторът търси credential-а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Предимства: не заема storage на автентикатора, работи с неограничен брой сайтове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Типично за: хардуерни ключове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023360" cy="3474720"/>
          </a:xfrm>
          <a:prstGeom prst="rect">
            <a:avLst/>
          </a:prstGeom>
          <a:solidFill>
            <a:srgbClr val="1A2D44"/>
          </a:solidFill>
          <a:ln w="19050">
            <a:solidFill>
              <a:srgbClr val="00E5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Discoverable (Resident)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residentKey: "required"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46320" y="18288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се съхранява на автентикатора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login: allowCredentials е празен → автентикаторът предлага списък от съхранени credentials за този rpId → без username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Предимства: usernameless login, по-добър UX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Типично за: passkeys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Passkeys — архитектура и синхронизация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2194560" cy="1371600"/>
          </a:xfrm>
          <a:prstGeom prst="rect">
            <a:avLst/>
          </a:prstGeom>
          <a:solidFill>
            <a:srgbClr val="1A2D44"/>
          </a:solidFill>
          <a:ln w="12700">
            <a:solidFill>
              <a:srgbClr val="48CAE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11887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737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Телефон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657600" y="1051560"/>
            <a:ext cx="2194560" cy="1371600"/>
          </a:xfrm>
          <a:prstGeom prst="rect">
            <a:avLst/>
          </a:prstGeom>
          <a:solidFill>
            <a:srgbClr val="1A2D44"/>
          </a:solidFill>
          <a:ln w="12700">
            <a:solidFill>
              <a:srgbClr val="48CAE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18872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49040" y="1737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Provider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(E2EE vault)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6675120" y="1051560"/>
            <a:ext cx="2194560" cy="1371600"/>
          </a:xfrm>
          <a:prstGeom prst="rect">
            <a:avLst/>
          </a:prstGeom>
          <a:solidFill>
            <a:srgbClr val="1A2D44"/>
          </a:solidFill>
          <a:ln w="12700">
            <a:solidFill>
              <a:srgbClr val="48CAE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18872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66560" y="1737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Лаптоп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2880360" y="1691640"/>
            <a:ext cx="73152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5897880" y="1691640"/>
            <a:ext cx="73152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457200" y="265176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685800" y="2633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Какво се синхронизира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2834640" y="263347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material, encrypted at rest с ключ, деривиран от device credentials (PIN/biometric + cloud account key).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57200" y="3218688"/>
            <a:ext cx="54864" cy="45720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8580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Промяна в trust модела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2834640" y="3200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"trust the hardware" → "trust the hardware + cloud provider's E2EE". Компромис: convenience ↔ security boundary.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57200" y="3785616"/>
            <a:ext cx="54864" cy="457200"/>
          </a:xfrm>
          <a:prstGeom prst="rect">
            <a:avLst/>
          </a:prstGeom>
          <a:solidFill>
            <a:srgbClr val="7B8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85800" y="3767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8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 attestation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2834640" y="376732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Passkeys обикновено използват attestation: "none". Сървърът не може да верифицира произхода на автентикатора.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57200" y="4352544"/>
            <a:ext cx="54864" cy="45720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85800" y="43342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Device-bound passkeys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2834640" y="43342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Компромис — discoverable credential, но без sync. Остава на конкретното устройство. Поддържа се от Windows Hello, Touch ID.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 на заплахи — защити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0515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Фишинг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05840" y="13441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rpIdHash = SHA-256(origin) е вграден в подписа. Фалшив домейн → различен хеш → credential не съществува за този rpId.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0574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Man-in-the-Middle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005840" y="23500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в clientDataJSON е подписан. TLS осигурява канала. Атакуващият не може да промени origin без да инвалидира подписа.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57200" y="2971800"/>
            <a:ext cx="8229600" cy="86868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0632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017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Replay атаки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005840" y="33558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Server-generated challenge (nonce) + signature counter. Всяка автентикация е уникална. Повторен payload се отхвърля.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1A2D44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06908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Пробив на сървъра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005840" y="43616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Сървърът съхранява само public keys. Безполезни без private key. Сравни с breach на password hashes.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 на заплахи — оставащи рискове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1A2D44"/>
          </a:solidFill>
          <a:ln w="12700">
            <a:solidFill>
              <a:srgbClr val="4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0515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Клониране на автентикатор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05840" y="13441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keys: signCount детектира клонинг (counter &lt; stored → alert). Passkeys: sync provider контролира копията, counter е ненадежден при sync.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1A2D44"/>
          </a:solidFill>
          <a:ln w="12700">
            <a:solidFill>
              <a:srgbClr val="4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0574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Компрометиран cloud акаунт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005840" y="23500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 атакуващ овладее iCloud/Google акаунта → достъп до всички passkeys. Mitigation: device-bound passkeys за критични акаунти + MFA на cloud акаунта.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57200" y="2971800"/>
            <a:ext cx="8229600" cy="868680"/>
          </a:xfrm>
          <a:prstGeom prst="rect">
            <a:avLst/>
          </a:prstGeom>
          <a:solidFill>
            <a:srgbClr val="1A2D44"/>
          </a:solidFill>
          <a:ln w="12700">
            <a:solidFill>
              <a:srgbClr val="4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632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Downgrade атака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005840" y="33558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Атакуващият премахва WebAuthn опцията и принуждава fallback към парола. Mitigation: server-side policy — забрана на password login за акаунти с FIDO2.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1A2D44"/>
          </a:solidFill>
          <a:ln w="12700">
            <a:solidFill>
              <a:srgbClr val="4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6908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5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Социално </a:t>
            </a:r>
            <a:r>
              <a:rPr lang="bg-BG" sz="1500" b="1" dirty="0" err="1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инжинерство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005840" y="43616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не защитава от потребител, който доброволно одобрява заявка (напр. измамен push). UV (User Verification) помага, но не елиминира проблема.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Passkeys vs Hardware FIDO2 ключове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6118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Passkeys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Hardware Keys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Съхранение на 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(E2EE)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Хардуерен чип (secure element)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Синхронизация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— между устройства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— device-bound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Attestation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/ Self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/ AttCA (x5c chain)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backup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ключ (отделен)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Clone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Ненадежден (sync counter)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signCount работи надеждно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ceiling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Зависи от cloud 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Максимално — няма remote 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Идеално за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Consumer, ежедневна употреба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Enterprise, admin, high-value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Демо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2286000"/>
          </a:xfrm>
          <a:prstGeom prst="rect">
            <a:avLst/>
          </a:prstGeom>
          <a:solidFill>
            <a:srgbClr val="1A2D44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 + @simplewebauthn/server + React frontend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Два режима: Passkey mode vs Hardware key mode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</a:rPr>
              <a:t>Панел с real-time визуализация на: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challenge, clientDataJSON, authenticatorData (parsed)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rpIdHash, flags, signCount, attestation object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signature verification result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Ключови изводи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3192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39136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заменя споделената тайна с асиметрична криптография — сървърът никога не вижда private key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0624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41879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binding (rpIdHash) прави фишинга криптографски невъзможен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8056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7240" y="44622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Passkeys = FIDO2 + cloud sync — масов UX, но нов trust boundary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754880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7240" y="47365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Хибриден подход: passkeys за ежедневни акаунти, hardware keys за критична инфраструктура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256C4-A409-E420-2C2F-1AE369FF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BEC70D56-8DAF-FBD5-5F48-608F23303420}"/>
              </a:ext>
            </a:extLst>
          </p:cNvPr>
          <p:cNvSpPr/>
          <p:nvPr/>
        </p:nvSpPr>
        <p:spPr>
          <a:xfrm>
            <a:off x="457200" y="45948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https://</a:t>
            </a:r>
            <a:r>
              <a:rPr lang="en-US" sz="1200" b="1" dirty="0" err="1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github.com</a:t>
            </a:r>
            <a:r>
              <a:rPr lang="en-US" sz="1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/NovaBG03/fido2-demo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5F6B2A3-1921-7F46-7662-34077A664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07" y="170823"/>
            <a:ext cx="8214745" cy="450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792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052B3-9CB4-4C8B-40BC-428CA86AD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66D6BEF-B728-1C92-FD10-5E003487B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38C2B88-8C8D-E96A-ACB8-09C1E1FCC1CA}"/>
              </a:ext>
            </a:extLst>
          </p:cNvPr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Демо</a:t>
            </a:r>
            <a:endParaRPr lang="en-US" sz="30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BF6C3EA0-6133-1774-9A21-676FC96DFF69}"/>
              </a:ext>
            </a:extLst>
          </p:cNvPr>
          <p:cNvSpPr/>
          <p:nvPr/>
        </p:nvSpPr>
        <p:spPr>
          <a:xfrm>
            <a:off x="457200" y="45948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https://</a:t>
            </a:r>
            <a:r>
              <a:rPr lang="en-US" sz="1200" b="1" dirty="0" err="1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github.com</a:t>
            </a:r>
            <a:r>
              <a:rPr lang="en-US" sz="1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/NovaBG03/fido2-demo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D2A364-4972-C676-AF3A-111F93391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65" y="956603"/>
            <a:ext cx="3956842" cy="3596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F3A414-5191-8F7B-7827-ABB9D2C50E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045" y="411480"/>
            <a:ext cx="3214717" cy="43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986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8E2D9-67FC-69AD-4D03-6D0EA4FF5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5F1D12E-1D31-2E20-2A42-E5E7EA3396F9}"/>
              </a:ext>
            </a:extLst>
          </p:cNvPr>
          <p:cNvSpPr/>
          <p:nvPr/>
        </p:nvSpPr>
        <p:spPr>
          <a:xfrm>
            <a:off x="2044709" y="1306002"/>
            <a:ext cx="5054352" cy="17909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Благодаря за вниманието!</a:t>
            </a:r>
            <a:endParaRPr lang="en-US" sz="39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28" y="0"/>
            <a:ext cx="3872286" cy="2364763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15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6946798" y="2946297"/>
            <a:ext cx="2356800" cy="2037604"/>
            <a:chOff x="-305" y="-4155"/>
            <a:chExt cx="2514948" cy="217433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A9A3423-D242-70E1-72DB-879C18A4D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90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3330</Words>
  <Application>Microsoft Macintosh PowerPoint</Application>
  <PresentationFormat>On-screen Show (16:9)</PresentationFormat>
  <Paragraphs>227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Криптографски принципи зад автентикация без парола</dc:title>
  <dc:subject>PptxGenJS Presentation</dc:subject>
  <dc:creator>Presentation</dc:creator>
  <cp:lastModifiedBy>Nikita Koynov</cp:lastModifiedBy>
  <cp:revision>2</cp:revision>
  <dcterms:created xsi:type="dcterms:W3CDTF">2026-03-16T05:16:01Z</dcterms:created>
  <dcterms:modified xsi:type="dcterms:W3CDTF">2026-03-16T09:35:02Z</dcterms:modified>
</cp:coreProperties>
</file>